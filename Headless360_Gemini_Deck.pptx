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7D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046720" y="-457200"/>
            <a:ext cx="5029200" cy="5029200"/>
          </a:xfrm>
          <a:prstGeom prst="ellipse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457200"/>
            <a:ext cx="3200400" cy="3200400"/>
          </a:xfrm>
          <a:prstGeom prst="ellipse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04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5448"/>
            <a:ext cx="475488" cy="4754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66928" y="246888"/>
            <a:ext cx="256032" cy="256032"/>
          </a:xfrm>
          <a:prstGeom prst="ellipse">
            <a:avLst/>
          </a:prstGeom>
          <a:solidFill>
            <a:srgbClr val="017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228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Salesforce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25603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Slide 1 / 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896112"/>
            <a:ext cx="1645920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024128"/>
            <a:ext cx="8686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</a:rPr>
              <a:t>Headless 360:
The Platform You Trust, Everywhere.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8892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FFFFFF"/>
                </a:solidFill>
              </a:rPr>
              <a:t>Opening the MCP Server to every surface.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56432"/>
            <a:ext cx="6858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E5FF"/>
                </a:solidFill>
              </a:rPr>
              <a:t>Everything that makes Salesforce the enterprise standard — backend power, open API platform, Agentic Layer, and security — is now exposed via open API.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462272"/>
            <a:ext cx="3657600" cy="14813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462272"/>
            <a:ext cx="91440" cy="1481328"/>
          </a:xfrm>
          <a:prstGeom prst="rect">
            <a:avLst/>
          </a:prstGeom>
          <a:solidFill>
            <a:srgbClr val="017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4590288"/>
            <a:ext cx="502920" cy="502920"/>
          </a:xfrm>
          <a:prstGeom prst="ellipse">
            <a:avLst/>
          </a:prstGeom>
          <a:solidFill>
            <a:srgbClr val="017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25880" y="4617720"/>
            <a:ext cx="2651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32D60"/>
                </a:solidFill>
              </a:rPr>
              <a:t>Native Permissions
&amp; Profiles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70832" y="4462272"/>
            <a:ext cx="3657600" cy="14813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70832" y="4462272"/>
            <a:ext cx="91440" cy="1481328"/>
          </a:xfrm>
          <a:prstGeom prst="rect">
            <a:avLst/>
          </a:prstGeom>
          <a:solidFill>
            <a:srgbClr val="1B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599432" y="4590288"/>
            <a:ext cx="502920" cy="502920"/>
          </a:xfrm>
          <a:prstGeom prst="ellipse">
            <a:avLst/>
          </a:prstGeom>
          <a:solidFill>
            <a:srgbClr val="1B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39512" y="4617720"/>
            <a:ext cx="2651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32D60"/>
                </a:solidFill>
              </a:rPr>
              <a:t>MCP Server
Foundation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84464" y="4462272"/>
            <a:ext cx="3657600" cy="14813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84464" y="4462272"/>
            <a:ext cx="91440" cy="1481328"/>
          </a:xfrm>
          <a:prstGeom prst="rect">
            <a:avLst/>
          </a:prstGeom>
          <a:solidFill>
            <a:srgbClr val="06A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513064" y="4590288"/>
            <a:ext cx="502920" cy="502920"/>
          </a:xfrm>
          <a:prstGeom prst="ellipse">
            <a:avLst/>
          </a:prstGeom>
          <a:solidFill>
            <a:srgbClr val="06A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53144" y="4617720"/>
            <a:ext cx="2651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32D60"/>
                </a:solidFill>
              </a:rPr>
              <a:t>Agentic Layer
Integrity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144768"/>
            <a:ext cx="1124712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The foundation doesn't change. The front door does.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6748272"/>
            <a:ext cx="2031492" cy="109728"/>
          </a:xfrm>
          <a:prstGeom prst="rect">
            <a:avLst/>
          </a:prstGeom>
          <a:solidFill>
            <a:srgbClr val="017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6EE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D6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55448"/>
            <a:ext cx="475488" cy="4754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66928" y="246888"/>
            <a:ext cx="256032" cy="256032"/>
          </a:xfrm>
          <a:prstGeom prst="ellipse">
            <a:avLst/>
          </a:prstGeom>
          <a:solidFill>
            <a:srgbClr val="017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228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32D60"/>
                </a:solidFill>
              </a:rPr>
              <a:t>Salesforce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5603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32D60"/>
                </a:solidFill>
              </a:rPr>
              <a:t>Slide 2 / 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96112"/>
            <a:ext cx="1645920" cy="64008"/>
          </a:xfrm>
          <a:prstGeom prst="rect">
            <a:avLst/>
          </a:prstGeom>
          <a:solidFill>
            <a:srgbClr val="017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24128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32D60"/>
                </a:solidFill>
              </a:rPr>
              <a:t>We're Not Killing the 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202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666677"/>
                </a:solidFill>
              </a:rPr>
              <a:t>A new door, not a closed one.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514600"/>
            <a:ext cx="539496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514600"/>
            <a:ext cx="91440" cy="1188720"/>
          </a:xfrm>
          <a:prstGeom prst="rect">
            <a:avLst/>
          </a:prstGeom>
          <a:solidFill>
            <a:srgbClr val="017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633472"/>
            <a:ext cx="4983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1">
                <a:solidFill>
                  <a:srgbClr val="032D60"/>
                </a:solidFill>
              </a:rPr>
              <a:t>"You may not even log into Salesforce anymore."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200400"/>
            <a:ext cx="4983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77"/>
                </a:solidFill>
              </a:rPr>
              <a:t>— Parker Harris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822191"/>
            <a:ext cx="5394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32D60"/>
                </a:solidFill>
              </a:rPr>
              <a:t>Some users want a conversational AI interface. Some want traditional UI. We are building both.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4681727"/>
            <a:ext cx="164592" cy="164592"/>
          </a:xfrm>
          <a:prstGeom prst="ellipse">
            <a:avLst/>
          </a:prstGeom>
          <a:solidFill>
            <a:srgbClr val="017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590288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32D60"/>
                </a:solidFill>
              </a:rPr>
              <a:t>Active Lightning UI Roadmap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" y="5120640"/>
            <a:ext cx="164592" cy="164592"/>
          </a:xfrm>
          <a:prstGeom prst="ellipse">
            <a:avLst/>
          </a:prstGeom>
          <a:solidFill>
            <a:srgbClr val="017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502920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32D60"/>
                </a:solidFill>
              </a:rPr>
              <a:t>Screen Flow Improvements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" y="5559551"/>
            <a:ext cx="164592" cy="164592"/>
          </a:xfrm>
          <a:prstGeom prst="ellipse">
            <a:avLst/>
          </a:prstGeom>
          <a:solidFill>
            <a:srgbClr val="017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546811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32D60"/>
                </a:solidFill>
              </a:rPr>
              <a:t>Continuous Record Update Enhancements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92240" y="2514600"/>
            <a:ext cx="5212080" cy="3493008"/>
          </a:xfrm>
          <a:prstGeom prst="round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92240" y="2514600"/>
            <a:ext cx="5212080" cy="73152"/>
          </a:xfrm>
          <a:prstGeom prst="rect">
            <a:avLst/>
          </a:prstGeom>
          <a:solidFill>
            <a:srgbClr val="017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92240" y="2514600"/>
            <a:ext cx="5212080" cy="3493008"/>
          </a:xfrm>
          <a:prstGeom prst="roundRect">
            <a:avLst/>
          </a:prstGeom>
          <a:solidFill>
            <a:srgbClr val="013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772400" y="2926080"/>
            <a:ext cx="2651760" cy="2651760"/>
          </a:xfrm>
          <a:prstGeom prst="ellipse">
            <a:avLst/>
          </a:prstGeom>
          <a:solidFill>
            <a:srgbClr val="014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0" y="324612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46634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Lightning + Conversational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5102352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6EEFF"/>
                </a:solidFill>
              </a:rPr>
              <a:t>Harmonized Productivity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3093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1">
                <a:solidFill>
                  <a:srgbClr val="0176D3"/>
                </a:solidFill>
              </a:rPr>
              <a:t>Headless 360 is a new door — it doesn't close the old one.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748272"/>
            <a:ext cx="4062984" cy="109728"/>
          </a:xfrm>
          <a:prstGeom prst="rect">
            <a:avLst/>
          </a:prstGeom>
          <a:solidFill>
            <a:srgbClr val="017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0A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-731520"/>
            <a:ext cx="5486400" cy="5486400"/>
          </a:xfrm>
          <a:prstGeom prst="ellipse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182880"/>
            <a:ext cx="3657600" cy="3657600"/>
          </a:xfrm>
          <a:prstGeom prst="ellipse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5448"/>
            <a:ext cx="475488" cy="4754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66928" y="246888"/>
            <a:ext cx="256032" cy="256032"/>
          </a:xfrm>
          <a:prstGeom prst="ellipse">
            <a:avLst/>
          </a:prstGeom>
          <a:solidFill>
            <a:srgbClr val="017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228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Salesforce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25603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Slide 3 / 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896112"/>
            <a:ext cx="1645920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024128"/>
            <a:ext cx="8686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</a:rPr>
              <a:t>Slack: The Ultimate
Agent Orchestrator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8892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FFFFFF"/>
                </a:solidFill>
              </a:rPr>
              <a:t>Your AI Command Center.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246120"/>
            <a:ext cx="1124712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246120"/>
            <a:ext cx="91440" cy="914400"/>
          </a:xfrm>
          <a:prstGeom prst="rect">
            <a:avLst/>
          </a:prstGeom>
          <a:solidFill>
            <a:srgbClr val="1B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364992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1">
                <a:solidFill>
                  <a:srgbClr val="032D60"/>
                </a:solidFill>
              </a:rPr>
              <a:t>"Pull me a summary of all at-risk deals this quarter and create follow-up tasks."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315968"/>
            <a:ext cx="5577840" cy="16276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4315968"/>
            <a:ext cx="109728" cy="1627632"/>
          </a:xfrm>
          <a:prstGeom prst="rect">
            <a:avLst/>
          </a:prstGeom>
          <a:solidFill>
            <a:srgbClr val="742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8368" y="4462272"/>
            <a:ext cx="594360" cy="594360"/>
          </a:xfrm>
          <a:prstGeom prst="ellipse">
            <a:avLst/>
          </a:prstGeom>
          <a:solidFill>
            <a:srgbClr val="742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4498848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32D60"/>
                </a:solidFill>
              </a:rPr>
              <a:t>Grounded in Truth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07492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32D60"/>
                </a:solidFill>
              </a:rPr>
              <a:t>Full audit trails and data governance across Headless 360, Agentforce, Jira, and Confluence.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4315968"/>
            <a:ext cx="5577840" cy="16276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5080" y="4315968"/>
            <a:ext cx="109728" cy="1627632"/>
          </a:xfrm>
          <a:prstGeom prst="rect">
            <a:avLst/>
          </a:prstGeom>
          <a:solidFill>
            <a:srgbClr val="06A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56248" y="4462272"/>
            <a:ext cx="594360" cy="594360"/>
          </a:xfrm>
          <a:prstGeom prst="ellipse">
            <a:avLst/>
          </a:prstGeom>
          <a:solidFill>
            <a:srgbClr val="06A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0" y="4498848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32D60"/>
                </a:solidFill>
              </a:rPr>
              <a:t>Natural Language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6248" y="507492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32D60"/>
                </a:solidFill>
              </a:rPr>
              <a:t>The ChatGPT experience for your org — governed by your specific rules and permissions.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3093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1">
                <a:solidFill>
                  <a:srgbClr val="FFFFFF"/>
                </a:solidFill>
              </a:rPr>
              <a:t>Natural language in. Cross-platform action out. Real permissions. Real audit trail.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6748272"/>
            <a:ext cx="6094476" cy="109728"/>
          </a:xfrm>
          <a:prstGeom prst="rect">
            <a:avLst/>
          </a:prstGeom>
          <a:solidFill>
            <a:srgbClr val="017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6EE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D6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55448"/>
            <a:ext cx="475488" cy="4754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66928" y="246888"/>
            <a:ext cx="256032" cy="256032"/>
          </a:xfrm>
          <a:prstGeom prst="ellipse">
            <a:avLst/>
          </a:prstGeom>
          <a:solidFill>
            <a:srgbClr val="017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228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32D60"/>
                </a:solidFill>
              </a:rPr>
              <a:t>Salesforce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5603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32D60"/>
                </a:solidFill>
              </a:rPr>
              <a:t>Slide 4 / 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96112"/>
            <a:ext cx="1645920" cy="64008"/>
          </a:xfrm>
          <a:prstGeom prst="rect">
            <a:avLst/>
          </a:prstGeom>
          <a:solidFill>
            <a:srgbClr val="017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24128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32D60"/>
                </a:solidFill>
              </a:rPr>
              <a:t>What if you don't have Slack?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202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666677"/>
                </a:solidFill>
              </a:rPr>
              <a:t>Flexibility without compromise.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8716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32D60"/>
                </a:solidFill>
              </a:rPr>
              <a:t>The underlying data and structure stay consistent regardless of how you access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090672"/>
            <a:ext cx="3657600" cy="2834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090672"/>
            <a:ext cx="3657600" cy="109728"/>
          </a:xfrm>
          <a:prstGeom prst="rect">
            <a:avLst/>
          </a:prstGeom>
          <a:solidFill>
            <a:srgbClr val="06A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85800" y="3310128"/>
            <a:ext cx="640080" cy="640080"/>
          </a:xfrm>
          <a:prstGeom prst="ellipse">
            <a:avLst/>
          </a:prstGeom>
          <a:solidFill>
            <a:srgbClr val="06A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4069080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32D60"/>
                </a:solidFill>
              </a:rPr>
              <a:t>Agentforce Vibes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617720"/>
            <a:ext cx="324612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77"/>
                </a:solidFill>
              </a:rPr>
              <a:t>Build custom React apps inside the Salesforce environment using pro-code tools.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0832" y="3090672"/>
            <a:ext cx="3657600" cy="2834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70832" y="3090672"/>
            <a:ext cx="3657600" cy="109728"/>
          </a:xfrm>
          <a:prstGeom prst="rect">
            <a:avLst/>
          </a:prstGeom>
          <a:solidFill>
            <a:srgbClr val="1B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99432" y="3310128"/>
            <a:ext cx="640080" cy="640080"/>
          </a:xfrm>
          <a:prstGeom prst="ellipse">
            <a:avLst/>
          </a:prstGeom>
          <a:solidFill>
            <a:srgbClr val="1B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4069080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32D60"/>
                </a:solidFill>
              </a:rPr>
              <a:t>Microsoft Teams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617720"/>
            <a:ext cx="324612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77"/>
                </a:solidFill>
              </a:rPr>
              <a:t>Native connections that bring Headless 360 power directly into Teams.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84464" y="3090672"/>
            <a:ext cx="3657600" cy="2834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84464" y="3090672"/>
            <a:ext cx="3657600" cy="109728"/>
          </a:xfrm>
          <a:prstGeom prst="rect">
            <a:avLst/>
          </a:prstGeom>
          <a:solidFill>
            <a:srgbClr val="017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513064" y="3310128"/>
            <a:ext cx="640080" cy="640080"/>
          </a:xfrm>
          <a:prstGeom prst="ellipse">
            <a:avLst/>
          </a:prstGeom>
          <a:solidFill>
            <a:srgbClr val="017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85632" y="4069080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32D60"/>
                </a:solidFill>
              </a:rPr>
              <a:t>Custom Surfaces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85632" y="4617720"/>
            <a:ext cx="324612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77"/>
                </a:solidFill>
              </a:rPr>
              <a:t>Build your own bespoke interfaces on our secure MCP foundation.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3093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1">
                <a:solidFill>
                  <a:srgbClr val="0176D3"/>
                </a:solidFill>
              </a:rPr>
              <a:t>The channel is your choice. The power is the same.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6748272"/>
            <a:ext cx="8125968" cy="109728"/>
          </a:xfrm>
          <a:prstGeom prst="rect">
            <a:avLst/>
          </a:prstGeom>
          <a:solidFill>
            <a:srgbClr val="017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7D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-731520"/>
            <a:ext cx="5486400" cy="5486400"/>
          </a:xfrm>
          <a:prstGeom prst="ellipse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04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55448"/>
            <a:ext cx="475488" cy="4754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246888"/>
            <a:ext cx="256032" cy="256032"/>
          </a:xfrm>
          <a:prstGeom prst="ellipse">
            <a:avLst/>
          </a:prstGeom>
          <a:solidFill>
            <a:srgbClr val="017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228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Salesforce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25603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Slide 5 / 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896112"/>
            <a:ext cx="1645920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24128"/>
            <a:ext cx="8686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</a:rPr>
              <a:t>The Developer Story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8892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FFFFFF"/>
                </a:solidFill>
              </a:rPr>
              <a:t>AI-native builders. Enterprise-grade scale.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01568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E5FF"/>
                </a:solidFill>
              </a:rPr>
              <a:t>We aren't replacing developers — we're giving them superpowers. Claude and Cursor now connect directly to the heart of Salesforce.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4416552"/>
            <a:ext cx="475488" cy="475488"/>
          </a:xfrm>
          <a:prstGeom prst="ellipse">
            <a:avLst/>
          </a:prstGeom>
          <a:solidFill>
            <a:srgbClr val="017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437083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Build with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475488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E5FF"/>
                </a:solidFill>
              </a:rPr>
              <a:t>Accelerate Apex, Flow, and Metadata creation with Claude + Cursor.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5102352"/>
            <a:ext cx="475488" cy="475488"/>
          </a:xfrm>
          <a:prstGeom prst="ellipse">
            <a:avLst/>
          </a:prstGeom>
          <a:solidFill>
            <a:srgbClr val="06A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505663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Deploy to Platform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544068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E5FF"/>
                </a:solidFill>
              </a:rPr>
              <a:t>Deterministic Agentforce Actions grounded in MCP Server logic.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5788152"/>
            <a:ext cx="475488" cy="475488"/>
          </a:xfrm>
          <a:prstGeom prst="ellipse">
            <a:avLst/>
          </a:prstGeom>
          <a:solidFill>
            <a:srgbClr val="742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574243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Expose to Users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" y="612648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E5FF"/>
                </a:solidFill>
              </a:rPr>
              <a:t>Natural language triggers — end users just ask, the platform acts.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2487168"/>
            <a:ext cx="5303520" cy="3977639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2487168"/>
            <a:ext cx="5303520" cy="91440"/>
          </a:xfrm>
          <a:prstGeom prst="rect">
            <a:avLst/>
          </a:prstGeom>
          <a:solidFill>
            <a:srgbClr val="1B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01968" y="2743200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6A59A"/>
                </a:solidFill>
              </a:rPr>
              <a:t>// Agentforce Action Definition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01968" y="3127248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01968" y="3511296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6EEFF"/>
                </a:solidFill>
              </a:rPr>
              <a:t>exposing Headless360.MCP_Server {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01968" y="3895344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trigger: 'natural_language',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01968" y="4279392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context: 'permissions_enforced',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01968" y="4663440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logic: 'deterministic_actions'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01968" y="5047488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6EEFF"/>
                </a:solidFill>
              </a:rPr>
              <a:t>}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01968" y="5468112"/>
            <a:ext cx="4892040" cy="658368"/>
          </a:xfrm>
          <a:prstGeom prst="roundRect">
            <a:avLst/>
          </a:prstGeom>
          <a:solidFill>
            <a:srgbClr val="013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20840" y="5559552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176D3"/>
                </a:solidFill>
              </a:rPr>
              <a:t>Build with AI. Deploy to the platform. Expose to users naturally.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6748272"/>
            <a:ext cx="10157460" cy="109728"/>
          </a:xfrm>
          <a:prstGeom prst="rect">
            <a:avLst/>
          </a:prstGeom>
          <a:solidFill>
            <a:srgbClr val="017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6EE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D6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55448"/>
            <a:ext cx="475488" cy="4754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66928" y="246888"/>
            <a:ext cx="256032" cy="256032"/>
          </a:xfrm>
          <a:prstGeom prst="ellipse">
            <a:avLst/>
          </a:prstGeom>
          <a:solidFill>
            <a:srgbClr val="017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228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32D60"/>
                </a:solidFill>
              </a:rPr>
              <a:t>Salesforce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5603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32D60"/>
                </a:solidFill>
              </a:rPr>
              <a:t>Slide 6 / 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96112"/>
            <a:ext cx="1645920" cy="64008"/>
          </a:xfrm>
          <a:prstGeom prst="rect">
            <a:avLst/>
          </a:prstGeom>
          <a:solidFill>
            <a:srgbClr val="017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24128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32D60"/>
                </a:solidFill>
              </a:rPr>
              <a:t>Both Sides of the Coin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202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666677"/>
                </a:solidFill>
              </a:rPr>
              <a:t>More options, not fewer.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87168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32D60"/>
                </a:solidFill>
              </a:rPr>
              <a:t>Salesforce is the only platform that can credibly play both sides — AI-native and traditional UI — without forcing a choice.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273552"/>
            <a:ext cx="27889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336499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66677"/>
                </a:solidFill>
              </a:rPr>
              <a:t>USER LICENSES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703320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32D60"/>
                </a:solidFill>
              </a:rPr>
              <a:t>Still Matter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01568" y="3273552"/>
            <a:ext cx="27889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336499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66677"/>
                </a:solidFill>
              </a:rPr>
              <a:t>AUDIT TRAILS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703320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32D60"/>
                </a:solidFill>
              </a:rPr>
              <a:t>Preserved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45936" y="3273552"/>
            <a:ext cx="27889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0528" y="336499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66677"/>
                </a:solidFill>
              </a:rPr>
              <a:t>ACTIVITY HISTORY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3703320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32D60"/>
                </a:solidFill>
              </a:rPr>
              <a:t>User-Tied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90304" y="3273552"/>
            <a:ext cx="27889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54896" y="336499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66677"/>
                </a:solidFill>
              </a:rPr>
              <a:t>TRUST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54896" y="3703320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32D60"/>
                </a:solidFill>
              </a:rPr>
              <a:t>Always 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498848"/>
            <a:ext cx="5349240" cy="1664208"/>
          </a:xfrm>
          <a:prstGeom prst="roundRect">
            <a:avLst/>
          </a:prstGeom>
          <a:solidFill>
            <a:srgbClr val="004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645152"/>
            <a:ext cx="4983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Headless 360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102352"/>
            <a:ext cx="4983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EFF"/>
                </a:solidFill>
              </a:rPr>
              <a:t>AI-native  •  Conversational
Cross-platform  •  MCP-open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88736" y="5102352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176D3"/>
                </a:solidFill>
              </a:rPr>
              <a:t>OR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75120" y="4498848"/>
            <a:ext cx="5029200" cy="1664208"/>
          </a:xfrm>
          <a:prstGeom prst="roundRect">
            <a:avLst/>
          </a:prstGeom>
          <a:solidFill>
            <a:srgbClr val="004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464515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Classic Salesforce UI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5102352"/>
            <a:ext cx="4663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EFF"/>
                </a:solidFill>
              </a:rPr>
              <a:t>Lightning  •  Screen Flows
Record Updates  •  Dashboards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29107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176D3"/>
                </a:solidFill>
              </a:rPr>
              <a:t>Protect what you love. Embrace what's next.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17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