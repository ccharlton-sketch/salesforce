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2D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01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1097280"/>
            <a:ext cx="3474720" cy="3474720"/>
          </a:xfrm>
          <a:prstGeom prst="ellipse">
            <a:avLst/>
          </a:prstGeom>
          <a:solidFill>
            <a:srgbClr val="017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85800" y="1234440"/>
            <a:ext cx="3200400" cy="3200400"/>
          </a:xfrm>
          <a:prstGeom prst="ellipse">
            <a:avLst/>
          </a:prstGeom>
          <a:solidFill>
            <a:srgbClr val="01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1" i="0">
                <a:solidFill>
                  <a:srgbClr val="7EC8FF"/>
                </a:solidFill>
              </a:rPr>
              <a:t>360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7EC8FF"/>
                </a:solidFill>
              </a:rPr>
              <a:t>HEADLESS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0" y="685800"/>
            <a:ext cx="6400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Salesforce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0" y="1417320"/>
            <a:ext cx="6400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7EC8FF"/>
                </a:solidFill>
              </a:rPr>
              <a:t>Headless 360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0" y="2395728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E5FF"/>
                </a:solidFill>
              </a:rPr>
              <a:t>The platform you trust.
Now accessible everywhere.</a:t>
            </a:r>
          </a:p>
        </p:txBody>
      </p:sp>
      <p:sp>
        <p:nvSpPr>
          <p:cNvPr id="10" name="Oval 9"/>
          <p:cNvSpPr/>
          <p:nvPr/>
        </p:nvSpPr>
        <p:spPr>
          <a:xfrm>
            <a:off x="5394960" y="3520440"/>
            <a:ext cx="1371600" cy="1371600"/>
          </a:xfrm>
          <a:prstGeom prst="ellipse">
            <a:avLst/>
          </a:prstGeom>
          <a:solidFill>
            <a:srgbClr val="015CAA"/>
          </a:solidFill>
          <a:ln w="25400">
            <a:solidFill>
              <a:srgbClr val="7E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94960" y="365760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Backend
System</a:t>
            </a:r>
          </a:p>
        </p:txBody>
      </p:sp>
      <p:sp>
        <p:nvSpPr>
          <p:cNvPr id="12" name="Oval 11"/>
          <p:cNvSpPr/>
          <p:nvPr/>
        </p:nvSpPr>
        <p:spPr>
          <a:xfrm>
            <a:off x="7059168" y="3520440"/>
            <a:ext cx="1371600" cy="1371600"/>
          </a:xfrm>
          <a:prstGeom prst="ellipse">
            <a:avLst/>
          </a:prstGeom>
          <a:solidFill>
            <a:srgbClr val="014C8F"/>
          </a:solidFill>
          <a:ln w="25400">
            <a:solidFill>
              <a:srgbClr val="7E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59168" y="365760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Open
API</a:t>
            </a:r>
          </a:p>
        </p:txBody>
      </p:sp>
      <p:sp>
        <p:nvSpPr>
          <p:cNvPr id="14" name="Oval 13"/>
          <p:cNvSpPr/>
          <p:nvPr/>
        </p:nvSpPr>
        <p:spPr>
          <a:xfrm>
            <a:off x="8723376" y="3520440"/>
            <a:ext cx="1371600" cy="1371600"/>
          </a:xfrm>
          <a:prstGeom prst="ellipse">
            <a:avLst/>
          </a:prstGeom>
          <a:solidFill>
            <a:srgbClr val="013C75"/>
          </a:solidFill>
          <a:ln w="25400">
            <a:solidFill>
              <a:srgbClr val="7E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23376" y="365760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Agentic
Layer</a:t>
            </a:r>
          </a:p>
        </p:txBody>
      </p:sp>
      <p:sp>
        <p:nvSpPr>
          <p:cNvPr id="16" name="Oval 15"/>
          <p:cNvSpPr/>
          <p:nvPr/>
        </p:nvSpPr>
        <p:spPr>
          <a:xfrm>
            <a:off x="10387584" y="3520440"/>
            <a:ext cx="1371600" cy="1371600"/>
          </a:xfrm>
          <a:prstGeom prst="ellipse">
            <a:avLst/>
          </a:prstGeom>
          <a:solidFill>
            <a:srgbClr val="012C5A"/>
          </a:solidFill>
          <a:ln w="25400">
            <a:solidFill>
              <a:srgbClr val="7E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87584" y="365760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Security &amp;
Profiles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60" y="5047488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ACCFF"/>
                </a:solidFill>
              </a:rPr>
              <a:t>All preserved. All enforced. All yours.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291072"/>
            <a:ext cx="12188952" cy="566928"/>
          </a:xfrm>
          <a:prstGeom prst="rect">
            <a:avLst/>
          </a:prstGeom>
          <a:solidFill>
            <a:srgbClr val="017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6291072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Bottom line: The foundation doesn't change. The front door does.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97BFF"/>
                </a:solidFill>
              </a:rPr>
              <a:t>ADDRESSING THE FEAR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"/>
            <a:ext cx="109728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We're not killing the UI.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11247120" cy="914400"/>
          </a:xfrm>
          <a:prstGeom prst="rect">
            <a:avLst/>
          </a:prstGeom>
          <a:solidFill>
            <a:srgbClr val="2A0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91440" cy="914400"/>
          </a:xfrm>
          <a:prstGeom prst="rect">
            <a:avLst/>
          </a:prstGeom>
          <a:solidFill>
            <a:srgbClr val="E9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89888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CC8F0"/>
                </a:solidFill>
              </a:rPr>
              <a:t>"You may not even log into Salesforce anymore."  — Parker Harris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423160"/>
            <a:ext cx="5394960" cy="3566160"/>
          </a:xfrm>
          <a:prstGeom prst="rect">
            <a:avLst/>
          </a:prstGeom>
          <a:solidFill>
            <a:srgbClr val="301050"/>
          </a:solidFill>
          <a:ln w="12700">
            <a:solidFill>
              <a:srgbClr val="E9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09360" y="2423160"/>
            <a:ext cx="5394960" cy="3566160"/>
          </a:xfrm>
          <a:prstGeom prst="rect">
            <a:avLst/>
          </a:prstGeom>
          <a:solidFill>
            <a:srgbClr val="012A55"/>
          </a:solidFill>
          <a:ln w="12700">
            <a:solidFill>
              <a:srgbClr val="7E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48716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97BFF"/>
                </a:solidFill>
              </a:rPr>
              <a:t>❌  The Fear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48716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EC8FF"/>
                </a:solidFill>
              </a:rPr>
              <a:t>✅  The Reality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3017520"/>
            <a:ext cx="5029200" cy="749808"/>
          </a:xfrm>
          <a:prstGeom prst="rect">
            <a:avLst/>
          </a:prstGeom>
          <a:solidFill>
            <a:srgbClr val="441460"/>
          </a:solidFill>
          <a:ln w="12700">
            <a:solidFill>
              <a:srgbClr val="E9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063239"/>
            <a:ext cx="4754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Salesforce is forcing everyone
to abandon the UI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46520" y="3017520"/>
            <a:ext cx="5029200" cy="749808"/>
          </a:xfrm>
          <a:prstGeom prst="rect">
            <a:avLst/>
          </a:prstGeom>
          <a:solidFill>
            <a:srgbClr val="013870"/>
          </a:solidFill>
          <a:ln w="12700">
            <a:solidFill>
              <a:srgbClr val="7E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3063239"/>
            <a:ext cx="4754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Headless 360 is an option,
not a mandate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886200"/>
            <a:ext cx="5029200" cy="749808"/>
          </a:xfrm>
          <a:prstGeom prst="rect">
            <a:avLst/>
          </a:prstGeom>
          <a:solidFill>
            <a:srgbClr val="441460"/>
          </a:solidFill>
          <a:ln w="12700">
            <a:solidFill>
              <a:srgbClr val="E9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931920"/>
            <a:ext cx="4754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The classic experience
is being deprecated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46520" y="3886200"/>
            <a:ext cx="5029200" cy="749808"/>
          </a:xfrm>
          <a:prstGeom prst="rect">
            <a:avLst/>
          </a:prstGeom>
          <a:solidFill>
            <a:srgbClr val="013870"/>
          </a:solidFill>
          <a:ln w="12700">
            <a:solidFill>
              <a:srgbClr val="7E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3931920"/>
            <a:ext cx="4754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Active Lightning roadmap:
flows, records, dashboards continue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4754879"/>
            <a:ext cx="5029200" cy="749808"/>
          </a:xfrm>
          <a:prstGeom prst="rect">
            <a:avLst/>
          </a:prstGeom>
          <a:solidFill>
            <a:srgbClr val="441460"/>
          </a:solidFill>
          <a:ln w="12700">
            <a:solidFill>
              <a:srgbClr val="E9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800599"/>
            <a:ext cx="4754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Teams will lose familiar
workflows and screens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46520" y="4754879"/>
            <a:ext cx="5029200" cy="749808"/>
          </a:xfrm>
          <a:prstGeom prst="rect">
            <a:avLst/>
          </a:prstGeom>
          <a:solidFill>
            <a:srgbClr val="013870"/>
          </a:solidFill>
          <a:ln w="12700">
            <a:solidFill>
              <a:srgbClr val="7E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4800599"/>
            <a:ext cx="4754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Both UI and AI interfaces
built and supported in parallel</a:t>
            </a:r>
          </a:p>
        </p:txBody>
      </p:sp>
      <p:sp>
        <p:nvSpPr>
          <p:cNvPr id="23" name="Oval 22"/>
          <p:cNvSpPr/>
          <p:nvPr/>
        </p:nvSpPr>
        <p:spPr>
          <a:xfrm>
            <a:off x="5394960" y="3520440"/>
            <a:ext cx="1371600" cy="1371600"/>
          </a:xfrm>
          <a:prstGeom prst="ellipse">
            <a:avLst/>
          </a:prstGeom>
          <a:solidFill>
            <a:srgbClr val="222240"/>
          </a:solidFill>
          <a:ln w="25400">
            <a:solidFill>
              <a:srgbClr val="66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94960" y="3749039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AAAACC"/>
                </a:solidFill>
              </a:rPr>
              <a:t>BOTH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291072"/>
            <a:ext cx="12188952" cy="566928"/>
          </a:xfrm>
          <a:prstGeom prst="rect">
            <a:avLst/>
          </a:prstGeom>
          <a:solidFill>
            <a:srgbClr val="9A2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6291072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Bottom line: Headless 360 is a new door — it doesn't close the old one.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0A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4A0FF"/>
                </a:solidFill>
              </a:rPr>
              <a:t>IF YOU HAVE SLACK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Slack: Your AI Command Center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BBFF"/>
                </a:solidFill>
              </a:rPr>
              <a:t>One interface. Every tool. Natural language.</a:t>
            </a:r>
          </a:p>
        </p:txBody>
      </p:sp>
      <p:sp>
        <p:nvSpPr>
          <p:cNvPr id="5" name="Oval 4"/>
          <p:cNvSpPr/>
          <p:nvPr/>
        </p:nvSpPr>
        <p:spPr>
          <a:xfrm>
            <a:off x="4663440" y="2286000"/>
            <a:ext cx="2834640" cy="2286000"/>
          </a:xfrm>
          <a:prstGeom prst="ellipse">
            <a:avLst/>
          </a:prstGeom>
          <a:solidFill>
            <a:srgbClr val="4A1FA8"/>
          </a:solidFill>
          <a:ln w="38100">
            <a:solidFill>
              <a:srgbClr val="C4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63440" y="265176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Slackbot
Orchestrator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2103120" cy="1005840"/>
          </a:xfrm>
          <a:prstGeom prst="rect">
            <a:avLst/>
          </a:prstGeom>
          <a:solidFill>
            <a:srgbClr val="0176D3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60020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Salesforce
Headless 360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566160"/>
            <a:ext cx="2103120" cy="1005840"/>
          </a:xfrm>
          <a:prstGeom prst="rect">
            <a:avLst/>
          </a:prstGeom>
          <a:solidFill>
            <a:srgbClr val="06A59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3611879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Agentforce
Agents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0" y="1554480"/>
            <a:ext cx="2103120" cy="1005840"/>
          </a:xfrm>
          <a:prstGeom prst="rect">
            <a:avLst/>
          </a:prstGeom>
          <a:solidFill>
            <a:srgbClr val="0052C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32520" y="160020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Jira /
Confluence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0" y="3566160"/>
            <a:ext cx="2103120" cy="1005840"/>
          </a:xfrm>
          <a:prstGeom prst="rect">
            <a:avLst/>
          </a:prstGeom>
          <a:solidFill>
            <a:srgbClr val="50509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32520" y="3611879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Other
MCP Apps</a:t>
            </a:r>
          </a:p>
        </p:txBody>
      </p:sp>
      <p:sp>
        <p:nvSpPr>
          <p:cNvPr id="15" name="Oval 14"/>
          <p:cNvSpPr/>
          <p:nvPr/>
        </p:nvSpPr>
        <p:spPr>
          <a:xfrm>
            <a:off x="5257800" y="548640"/>
            <a:ext cx="1645920" cy="914400"/>
          </a:xfrm>
          <a:prstGeom prst="ellipse">
            <a:avLst/>
          </a:prstGeom>
          <a:solidFill>
            <a:srgbClr val="3A1080"/>
          </a:solidFill>
          <a:ln w="25400">
            <a:solidFill>
              <a:srgbClr val="C4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57800" y="59436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🧑  User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486400"/>
            <a:ext cx="2743200" cy="594360"/>
          </a:xfrm>
          <a:prstGeom prst="rect">
            <a:avLst/>
          </a:prstGeom>
          <a:solidFill>
            <a:srgbClr val="301060"/>
          </a:solidFill>
          <a:ln w="12700">
            <a:solidFill>
              <a:srgbClr val="C4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5321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4A0FF"/>
                </a:solidFill>
              </a:rPr>
              <a:t>✓  Real permissions enforced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83280" y="5486400"/>
            <a:ext cx="2743200" cy="594360"/>
          </a:xfrm>
          <a:prstGeom prst="rect">
            <a:avLst/>
          </a:prstGeom>
          <a:solidFill>
            <a:srgbClr val="301060"/>
          </a:solidFill>
          <a:ln w="12700">
            <a:solidFill>
              <a:srgbClr val="C4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4720" y="55321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4A0FF"/>
                </a:solidFill>
              </a:rPr>
              <a:t>✓  Full audit trail maintained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5486400"/>
            <a:ext cx="2743200" cy="594360"/>
          </a:xfrm>
          <a:prstGeom prst="rect">
            <a:avLst/>
          </a:prstGeom>
          <a:solidFill>
            <a:srgbClr val="301060"/>
          </a:solidFill>
          <a:ln w="12700">
            <a:solidFill>
              <a:srgbClr val="C4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55321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4A0FF"/>
                </a:solidFill>
              </a:rPr>
              <a:t>✓  Works today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35440" y="5486400"/>
            <a:ext cx="2743200" cy="594360"/>
          </a:xfrm>
          <a:prstGeom prst="rect">
            <a:avLst/>
          </a:prstGeom>
          <a:solidFill>
            <a:srgbClr val="301060"/>
          </a:solidFill>
          <a:ln w="12700">
            <a:solidFill>
              <a:srgbClr val="C4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0" y="55321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4A0FF"/>
                </a:solidFill>
              </a:rPr>
              <a:t>✓  All MCP apps seamless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291072"/>
            <a:ext cx="12188952" cy="566928"/>
          </a:xfrm>
          <a:prstGeom prst="rect">
            <a:avLst/>
          </a:prstGeom>
          <a:solidFill>
            <a:srgbClr val="4A1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6291072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Bottom line: Slack ties it all together — without changing how people already work.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DFFC4"/>
                </a:solidFill>
              </a:rPr>
              <a:t>NO SLACK? NO PROBLEM.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Multiple Paths to Headless 360</a:t>
            </a:r>
          </a:p>
        </p:txBody>
      </p:sp>
      <p:sp>
        <p:nvSpPr>
          <p:cNvPr id="4" name="Oval 3"/>
          <p:cNvSpPr/>
          <p:nvPr/>
        </p:nvSpPr>
        <p:spPr>
          <a:xfrm>
            <a:off x="4480560" y="2377440"/>
            <a:ext cx="3200400" cy="2103120"/>
          </a:xfrm>
          <a:prstGeom prst="ellipse">
            <a:avLst/>
          </a:prstGeom>
          <a:solidFill>
            <a:srgbClr val="00523A"/>
          </a:solidFill>
          <a:ln w="38100">
            <a:solidFill>
              <a:srgbClr val="5DF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480560" y="278892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5DFFC4"/>
                </a:solidFill>
              </a:rPr>
              <a:t>Salesforce
Headless 360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3474720" cy="2011680"/>
          </a:xfrm>
          <a:prstGeom prst="rect">
            <a:avLst/>
          </a:prstGeom>
          <a:solidFill>
            <a:srgbClr val="004430"/>
          </a:solidFill>
          <a:ln w="12700">
            <a:solidFill>
              <a:srgbClr val="5DF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389888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DFFC4"/>
                </a:solidFill>
              </a:rPr>
              <a:t>Agentforce
Vibes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2029967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Build custom React apps.
Full Headless 360 access.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3657600"/>
            <a:ext cx="3474720" cy="2011680"/>
          </a:xfrm>
          <a:prstGeom prst="rect">
            <a:avLst/>
          </a:prstGeom>
          <a:solidFill>
            <a:srgbClr val="003A28"/>
          </a:solidFill>
          <a:ln w="12700">
            <a:solidFill>
              <a:srgbClr val="5DF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79" y="3767328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DFFC4"/>
                </a:solidFill>
              </a:rPr>
              <a:t>Microsoft
Teams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4407408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Deploy an app into Teams.
Meet users where they are.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0" y="1280160"/>
            <a:ext cx="3474720" cy="2011680"/>
          </a:xfrm>
          <a:prstGeom prst="rect">
            <a:avLst/>
          </a:prstGeom>
          <a:solidFill>
            <a:srgbClr val="004430"/>
          </a:solidFill>
          <a:ln w="12700">
            <a:solidFill>
              <a:srgbClr val="5DF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49640" y="1389888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DFFC4"/>
                </a:solidFill>
              </a:rPr>
              <a:t>Web / Custom
React App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2029967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Your brand, your UX,
powered by Headless 360.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0" y="3657600"/>
            <a:ext cx="3474720" cy="2011680"/>
          </a:xfrm>
          <a:prstGeom prst="rect">
            <a:avLst/>
          </a:prstGeom>
          <a:solidFill>
            <a:srgbClr val="003A28"/>
          </a:solidFill>
          <a:ln w="12700">
            <a:solidFill>
              <a:srgbClr val="5DF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49640" y="3767328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DFFC4"/>
                </a:solidFill>
              </a:rPr>
              <a:t>Any MCP
Client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4407408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The API is open.
Build anywhere.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49039" y="2148840"/>
            <a:ext cx="731520" cy="164592"/>
          </a:xfrm>
          <a:prstGeom prst="rect">
            <a:avLst/>
          </a:prstGeom>
          <a:solidFill>
            <a:srgbClr val="5DF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749039" y="4434840"/>
            <a:ext cx="731520" cy="164592"/>
          </a:xfrm>
          <a:prstGeom prst="rect">
            <a:avLst/>
          </a:prstGeom>
          <a:solidFill>
            <a:srgbClr val="5DF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699248" y="2148840"/>
            <a:ext cx="731520" cy="164592"/>
          </a:xfrm>
          <a:prstGeom prst="rect">
            <a:avLst/>
          </a:prstGeom>
          <a:solidFill>
            <a:srgbClr val="5DF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99248" y="4434840"/>
            <a:ext cx="731520" cy="164592"/>
          </a:xfrm>
          <a:prstGeom prst="rect">
            <a:avLst/>
          </a:prstGeom>
          <a:solidFill>
            <a:srgbClr val="5DF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291072"/>
            <a:ext cx="12188952" cy="566928"/>
          </a:xfrm>
          <a:prstGeom prst="rect">
            <a:avLst/>
          </a:prstGeom>
          <a:solidFill>
            <a:srgbClr val="007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6291072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Bottom line: The channel is your choice. The power underneath is consistent.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D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E9339"/>
                </a:solidFill>
              </a:rPr>
              <a:t>FOR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"/>
            <a:ext cx="9144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Build with AI. Deploy to the Platform.
Expose to Users Naturally.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91640"/>
            <a:ext cx="2011680" cy="2743200"/>
          </a:xfrm>
          <a:prstGeom prst="rect">
            <a:avLst/>
          </a:prstGeom>
          <a:solidFill>
            <a:srgbClr val="3A2800"/>
          </a:solidFill>
          <a:ln w="12700">
            <a:solidFill>
              <a:srgbClr val="FE93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" y="1481328"/>
            <a:ext cx="914400" cy="914400"/>
          </a:xfrm>
          <a:prstGeom prst="ellipse">
            <a:avLst/>
          </a:prstGeom>
          <a:solidFill>
            <a:srgbClr val="FE9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08760"/>
            <a:ext cx="914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20D00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87168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E9339"/>
                </a:solidFill>
              </a:rPr>
              <a:t>Claude
+ Cursor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9184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E0AA"/>
                </a:solidFill>
              </a:rPr>
              <a:t>AI-assisted
build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816352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886633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61488" y="1691640"/>
            <a:ext cx="2011680" cy="2743200"/>
          </a:xfrm>
          <a:prstGeom prst="rect">
            <a:avLst/>
          </a:prstGeom>
          <a:solidFill>
            <a:srgbClr val="2E2000"/>
          </a:solidFill>
          <a:ln w="12700">
            <a:solidFill>
              <a:srgbClr val="FE93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310128" y="1481328"/>
            <a:ext cx="914400" cy="914400"/>
          </a:xfrm>
          <a:prstGeom prst="ellipse">
            <a:avLst/>
          </a:prstGeom>
          <a:solidFill>
            <a:srgbClr val="FE9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10128" y="1508760"/>
            <a:ext cx="914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20D00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52928" y="2487168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E9339"/>
                </a:solidFill>
              </a:rPr>
              <a:t>Apex /
Flows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52928" y="329184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E0AA"/>
                </a:solidFill>
              </a:rPr>
              <a:t>Deterministic
actions built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73168" y="2816352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886633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65776" y="1691640"/>
            <a:ext cx="2011680" cy="2743200"/>
          </a:xfrm>
          <a:prstGeom prst="rect">
            <a:avLst/>
          </a:prstGeom>
          <a:solidFill>
            <a:srgbClr val="221800"/>
          </a:solidFill>
          <a:ln w="12700">
            <a:solidFill>
              <a:srgbClr val="FE93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14416" y="1481328"/>
            <a:ext cx="914400" cy="914400"/>
          </a:xfrm>
          <a:prstGeom prst="ellipse">
            <a:avLst/>
          </a:prstGeom>
          <a:solidFill>
            <a:srgbClr val="FE9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14416" y="1508760"/>
            <a:ext cx="914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20D00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57216" y="2487168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E9339"/>
                </a:solidFill>
              </a:rPr>
              <a:t>Agentforce
Actions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57216" y="329184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E0AA"/>
                </a:solidFill>
              </a:rPr>
              <a:t>Tested &amp;
deployed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77456" y="2816352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886633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70064" y="1691640"/>
            <a:ext cx="2011680" cy="2743200"/>
          </a:xfrm>
          <a:prstGeom prst="rect">
            <a:avLst/>
          </a:prstGeom>
          <a:solidFill>
            <a:srgbClr val="1A1200"/>
          </a:solidFill>
          <a:ln w="12700">
            <a:solidFill>
              <a:srgbClr val="FE93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918704" y="1481328"/>
            <a:ext cx="914400" cy="914400"/>
          </a:xfrm>
          <a:prstGeom prst="ellipse">
            <a:avLst/>
          </a:prstGeom>
          <a:solidFill>
            <a:srgbClr val="FE9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18704" y="1508760"/>
            <a:ext cx="914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20D00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61504" y="2487168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E9339"/>
                </a:solidFill>
              </a:rPr>
              <a:t>MCP
Server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61504" y="329184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E0AA"/>
                </a:solidFill>
              </a:rPr>
              <a:t>Exposed via
open API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81744" y="2816352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886633"/>
                </a:solidFill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74352" y="1691640"/>
            <a:ext cx="2011680" cy="2743200"/>
          </a:xfrm>
          <a:prstGeom prst="rect">
            <a:avLst/>
          </a:prstGeom>
          <a:solidFill>
            <a:srgbClr val="120D00"/>
          </a:solidFill>
          <a:ln w="12700">
            <a:solidFill>
              <a:srgbClr val="FE93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222992" y="1481328"/>
            <a:ext cx="914400" cy="914400"/>
          </a:xfrm>
          <a:prstGeom prst="ellipse">
            <a:avLst/>
          </a:prstGeom>
          <a:solidFill>
            <a:srgbClr val="FE9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22992" y="1508760"/>
            <a:ext cx="914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20D00"/>
                </a:solidFill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65792" y="2487168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E9339"/>
                </a:solidFill>
              </a:rPr>
              <a:t>End
User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65792" y="329184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E0AA"/>
                </a:solidFill>
              </a:rPr>
              <a:t>Natural
language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754880"/>
            <a:ext cx="2743200" cy="804672"/>
          </a:xfrm>
          <a:prstGeom prst="rect">
            <a:avLst/>
          </a:prstGeom>
          <a:solidFill>
            <a:srgbClr val="2E2000"/>
          </a:solidFill>
          <a:ln w="12700">
            <a:solidFill>
              <a:srgbClr val="FE93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4828032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E9339"/>
                </a:solidFill>
              </a:rPr>
              <a:t>✓  Pro-developer first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383280" y="4754880"/>
            <a:ext cx="2743200" cy="804672"/>
          </a:xfrm>
          <a:prstGeom prst="rect">
            <a:avLst/>
          </a:prstGeom>
          <a:solidFill>
            <a:srgbClr val="2E2000"/>
          </a:solidFill>
          <a:ln w="12700">
            <a:solidFill>
              <a:srgbClr val="FE93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74720" y="4828032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E9339"/>
                </a:solidFill>
              </a:rPr>
              <a:t>✓  Agentforce still central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4754880"/>
            <a:ext cx="2743200" cy="804672"/>
          </a:xfrm>
          <a:prstGeom prst="rect">
            <a:avLst/>
          </a:prstGeom>
          <a:solidFill>
            <a:srgbClr val="2E2000"/>
          </a:solidFill>
          <a:ln w="12700">
            <a:solidFill>
              <a:srgbClr val="FE93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4828032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E9339"/>
                </a:solidFill>
              </a:rPr>
              <a:t>✓  Claude / Cursor integration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235440" y="4754880"/>
            <a:ext cx="2743200" cy="804672"/>
          </a:xfrm>
          <a:prstGeom prst="rect">
            <a:avLst/>
          </a:prstGeom>
          <a:solidFill>
            <a:srgbClr val="2E2000"/>
          </a:solidFill>
          <a:ln w="12700">
            <a:solidFill>
              <a:srgbClr val="FE93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26880" y="4828032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E9339"/>
                </a:solidFill>
              </a:rPr>
              <a:t>✓  Natural language access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291072"/>
            <a:ext cx="12188952" cy="566928"/>
          </a:xfrm>
          <a:prstGeom prst="rect">
            <a:avLst/>
          </a:prstGeom>
          <a:solidFill>
            <a:srgbClr val="FE9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6291072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20D00"/>
                </a:solidFill>
              </a:rPr>
              <a:t>Bottom line: Build with AI. Deploy to the platform. Expose to users naturally.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2D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EC8FF"/>
                </a:solidFill>
              </a:rPr>
              <a:t>THE BIG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Salesforce plays both sides of the coin.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7EC8FF"/>
                </a:solidFill>
              </a:rPr>
              <a:t>We meet every customer exactly where they are.</a:t>
            </a:r>
          </a:p>
        </p:txBody>
      </p:sp>
      <p:sp>
        <p:nvSpPr>
          <p:cNvPr id="5" name="Oval 4"/>
          <p:cNvSpPr/>
          <p:nvPr/>
        </p:nvSpPr>
        <p:spPr>
          <a:xfrm>
            <a:off x="365760" y="1691640"/>
            <a:ext cx="5029200" cy="4251960"/>
          </a:xfrm>
          <a:prstGeom prst="ellipse">
            <a:avLst/>
          </a:prstGeom>
          <a:solidFill>
            <a:srgbClr val="013A70"/>
          </a:solidFill>
          <a:ln w="38100">
            <a:solidFill>
              <a:srgbClr val="7E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92024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EC8FF"/>
                </a:solidFill>
              </a:rPr>
              <a:t>Headless 360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606040"/>
            <a:ext cx="4754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AI-native  •  Conversational
Cross-platform  •  MCP-open
ChatGPT for your org —
with Salesforce trust &amp; governance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324612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6688AA"/>
                </a:solidFill>
              </a:rPr>
              <a:t>OR</a:t>
            </a:r>
          </a:p>
        </p:txBody>
      </p:sp>
      <p:sp>
        <p:nvSpPr>
          <p:cNvPr id="9" name="Oval 8"/>
          <p:cNvSpPr/>
          <p:nvPr/>
        </p:nvSpPr>
        <p:spPr>
          <a:xfrm>
            <a:off x="6766560" y="1691640"/>
            <a:ext cx="5029200" cy="4251960"/>
          </a:xfrm>
          <a:prstGeom prst="ellipse">
            <a:avLst/>
          </a:prstGeom>
          <a:solidFill>
            <a:srgbClr val="013A70"/>
          </a:solidFill>
          <a:ln w="38100">
            <a:solidFill>
              <a:srgbClr val="7E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192024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EC8FF"/>
                </a:solidFill>
              </a:rPr>
              <a:t>Classic Salesforce 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2606040"/>
            <a:ext cx="4754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Lightning  •  Screen Flows
Record Updates  •  Dashboards
The experience your team
already knows and loves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6144768"/>
            <a:ext cx="2788920" cy="530352"/>
          </a:xfrm>
          <a:prstGeom prst="rect">
            <a:avLst/>
          </a:prstGeom>
          <a:solidFill>
            <a:srgbClr val="014C8F"/>
          </a:solidFill>
          <a:ln w="12700">
            <a:solidFill>
              <a:srgbClr val="7E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6181344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EC8FF"/>
                </a:solidFill>
              </a:rPr>
              <a:t>✔  User License Required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83280" y="6144768"/>
            <a:ext cx="2788920" cy="530352"/>
          </a:xfrm>
          <a:prstGeom prst="rect">
            <a:avLst/>
          </a:prstGeom>
          <a:solidFill>
            <a:srgbClr val="014C8F"/>
          </a:solidFill>
          <a:ln w="12700">
            <a:solidFill>
              <a:srgbClr val="7E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6181344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EC8FF"/>
                </a:solidFill>
              </a:rPr>
              <a:t>✔  Audit Trails Preserved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6144768"/>
            <a:ext cx="2788920" cy="530352"/>
          </a:xfrm>
          <a:prstGeom prst="rect">
            <a:avLst/>
          </a:prstGeom>
          <a:solidFill>
            <a:srgbClr val="014C8F"/>
          </a:solidFill>
          <a:ln w="12700">
            <a:solidFill>
              <a:srgbClr val="7E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6181344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EC8FF"/>
                </a:solidFill>
              </a:rPr>
              <a:t>✔  Activity History Per User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35440" y="6144768"/>
            <a:ext cx="2788920" cy="530352"/>
          </a:xfrm>
          <a:prstGeom prst="rect">
            <a:avLst/>
          </a:prstGeom>
          <a:solidFill>
            <a:srgbClr val="014C8F"/>
          </a:solidFill>
          <a:ln w="12700">
            <a:solidFill>
              <a:srgbClr val="7E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0" y="6181344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EC8FF"/>
                </a:solidFill>
              </a:rPr>
              <a:t>✔  Permissions Respected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