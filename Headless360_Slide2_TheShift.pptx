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76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47548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9496" y="274320"/>
            <a:ext cx="219456" cy="219456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60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09728"/>
            <a:ext cx="182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38928" y="12801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CDDFF"/>
                </a:solidFill>
              </a:rPr>
              <a:t>LATENCY REDUC.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8928" y="3840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09728"/>
            <a:ext cx="182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6288" y="12801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CDDFF"/>
                </a:solidFill>
              </a:rPr>
              <a:t>SECURITY HANDLERS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3840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60+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09728"/>
            <a:ext cx="182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12801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CDDFF"/>
                </a:solidFill>
              </a:rPr>
              <a:t>NATIVE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3840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56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CCFF"/>
                </a:solidFill>
              </a:rPr>
              <a:t>SLIDE 2 / 6</a:t>
            </a:r>
          </a:p>
        </p:txBody>
      </p:sp>
      <p:sp>
        <p:nvSpPr>
          <p:cNvPr id="16" name="Oval 15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0055A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92840" y="1645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◀</a:t>
            </a:r>
          </a:p>
        </p:txBody>
      </p:sp>
      <p:sp>
        <p:nvSpPr>
          <p:cNvPr id="18" name="Oval 17"/>
          <p:cNvSpPr/>
          <p:nvPr/>
        </p:nvSpPr>
        <p:spPr>
          <a:xfrm>
            <a:off x="11768328" y="164592"/>
            <a:ext cx="384048" cy="384048"/>
          </a:xfrm>
          <a:prstGeom prst="ellipse">
            <a:avLst/>
          </a:prstGeom>
          <a:solidFill>
            <a:srgbClr val="0055A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68328" y="1645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932688"/>
            <a:ext cx="1874519" cy="347472"/>
          </a:xfrm>
          <a:prstGeom prst="roundRect">
            <a:avLst/>
          </a:prstGeom>
          <a:solidFill>
            <a:srgbClr val="0055A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9692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FD8FC"/>
                </a:solidFill>
              </a:rPr>
              <a:t>⚡  New for TDX '26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Shift: From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02996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8FD8FC"/>
                </a:solidFill>
              </a:rPr>
              <a:t>DIY</a:t>
            </a:r>
            <a:r>
              <a:rPr sz="3800" b="1">
                <a:solidFill>
                  <a:srgbClr val="FFFFFF"/>
                </a:solidFill>
              </a:rPr>
              <a:t>  to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7004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Platform-</a:t>
            </a:r>
            <a:r>
              <a:rPr sz="3800" b="1">
                <a:solidFill>
                  <a:srgbClr val="8FD8FC"/>
                </a:solidFill>
              </a:rPr>
              <a:t>Native.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56432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0"/>
                </a:solidFill>
              </a:rPr>
              <a:t>You've been hacking headless with the CLI and local MCP servers. Headless 360 takes those experiments and wraps them in the Salesforce Trust Layer — making them production-ready at enterprise scale.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62272"/>
            <a:ext cx="3657600" cy="2029968"/>
          </a:xfrm>
          <a:prstGeom prst="roundRect">
            <a:avLst/>
          </a:prstGeom>
          <a:solidFill>
            <a:srgbClr val="032D60"/>
          </a:solidFill>
          <a:ln w="12700">
            <a:solidFill>
              <a:srgbClr val="4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502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76D3"/>
                </a:solidFill>
              </a:rPr>
              <a:t>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Hosted MCP Servers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687568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</a:rPr>
              <a:t>Native hosting within the Trust Boundary. No more local tunneling or manual bridge management.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29107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FD8FC"/>
                </a:solidFill>
              </a:rPr>
              <a:t>✓  60+ Pre-built Toolkits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6539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FD8FC"/>
                </a:solidFill>
              </a:rPr>
              <a:t>✓  Zero-latency Execution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0832" y="4462272"/>
            <a:ext cx="3657600" cy="2029968"/>
          </a:xfrm>
          <a:prstGeom prst="roundRect">
            <a:avLst/>
          </a:prstGeom>
          <a:solidFill>
            <a:srgbClr val="032D60"/>
          </a:solidFill>
          <a:ln w="12700">
            <a:solidFill>
              <a:srgbClr val="4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0" y="4617720"/>
            <a:ext cx="502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76D3"/>
                </a:solidFill>
              </a:rPr>
              <a:t>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23036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Experience Layer (AXL)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687568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</a:rPr>
              <a:t>Define interactive UI cards once. Render them natively in Slack, Claude, or custom React apps via API.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29107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FD8FC"/>
                </a:solidFill>
              </a:rPr>
              <a:t>✓  Universal Components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56539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FD8FC"/>
                </a:solidFill>
              </a:rPr>
              <a:t>✓  Dynamic Form Injection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4464" y="4462272"/>
            <a:ext cx="3657600" cy="2029968"/>
          </a:xfrm>
          <a:prstGeom prst="roundRect">
            <a:avLst/>
          </a:prstGeom>
          <a:solidFill>
            <a:srgbClr val="032D60"/>
          </a:solidFill>
          <a:ln w="12700">
            <a:solidFill>
              <a:srgbClr val="4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85632" y="4617720"/>
            <a:ext cx="502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76D3"/>
                </a:solidFill>
              </a:rPr>
              <a:t>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523036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 Observability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5632" y="5687568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</a:rPr>
              <a:t>End-to-end tracing for agentic sessions. See why decisions were made and score prompt performance.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629107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FD8FC"/>
                </a:solidFill>
              </a:rPr>
              <a:t>✓  Real-time Audit Trails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656539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FD8FC"/>
                </a:solidFill>
              </a:rPr>
              <a:t>✓  Trust Layer Guardrails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492240"/>
            <a:ext cx="7406640" cy="256032"/>
          </a:xfrm>
          <a:prstGeom prst="roundRect">
            <a:avLst/>
          </a:prstGeom>
          <a:solidFill>
            <a:srgbClr val="0055A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510528"/>
            <a:ext cx="7132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Why it matters: Enterprise compliance, security, and consistent cross-channel UX — at scale.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4462272"/>
            <a:ext cx="1828800" cy="2029968"/>
          </a:xfrm>
          <a:prstGeom prst="roundRect">
            <a:avLst/>
          </a:prstGeom>
          <a:solidFill>
            <a:srgbClr val="032D60"/>
          </a:solidFill>
          <a:ln w="12700">
            <a:solidFill>
              <a:srgbClr val="4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4617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AACC"/>
                </a:solidFill>
              </a:rPr>
              <a:t>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5193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AACC"/>
                </a:solidFill>
              </a:rPr>
              <a:t>MANUAL DIY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5468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888"/>
                </a:solidFill>
              </a:rPr>
              <a:t>Brittle Stack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04120" y="4462272"/>
            <a:ext cx="1874519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69880" y="4617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176D3"/>
                </a:solidFill>
              </a:rPr>
              <a:t>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5193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176D3"/>
                </a:solidFill>
              </a:rPr>
              <a:t>H360 NATIVE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5468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176D3"/>
                </a:solidFill>
              </a:rPr>
              <a:t>Stable Scale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4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729984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ACC"/>
                </a:solidFill>
              </a:rPr>
              <a:t>Confidential  |  Salesforce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