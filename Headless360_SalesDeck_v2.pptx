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7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0" y="2743200"/>
            <a:ext cx="8229600" cy="6400800"/>
          </a:xfrm>
          <a:prstGeom prst="ellipse">
            <a:avLst/>
          </a:prstGeom>
          <a:solidFill>
            <a:srgbClr val="0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5603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salesforce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713232"/>
            <a:ext cx="32004" cy="502920"/>
          </a:xfrm>
          <a:prstGeom prst="rect">
            <a:avLst/>
          </a:prstGeom>
          <a:solidFill>
            <a:srgbClr val="8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FF"/>
                </a:solidFill>
              </a:rPr>
              <a:t>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82880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</a:rPr>
              <a:t>Salesforce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2743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7EC8FF"/>
                </a:solidFill>
              </a:rPr>
              <a:t>Headless 360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913632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E5FF"/>
                </a:solidFill>
              </a:rPr>
              <a:t>The platform you trust — now accessible everywhere.</a:t>
            </a:r>
          </a:p>
        </p:txBody>
      </p:sp>
      <p:sp>
        <p:nvSpPr>
          <p:cNvPr id="9" name="Oval 8"/>
          <p:cNvSpPr/>
          <p:nvPr/>
        </p:nvSpPr>
        <p:spPr>
          <a:xfrm>
            <a:off x="8229600" y="1005840"/>
            <a:ext cx="3474720" cy="3474720"/>
          </a:xfrm>
          <a:prstGeom prst="ellipse">
            <a:avLst/>
          </a:prstGeom>
          <a:solidFill>
            <a:srgbClr val="0038B0"/>
          </a:solidFill>
          <a:ln w="50800">
            <a:solidFill>
              <a:srgbClr val="7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58200" y="1234440"/>
            <a:ext cx="3017520" cy="3017520"/>
          </a:xfrm>
          <a:prstGeom prst="ellipse">
            <a:avLst/>
          </a:prstGeom>
          <a:solidFill>
            <a:srgbClr val="004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459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7EC8FF"/>
                </a:solidFill>
              </a:rPr>
              <a:t>360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0515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ACCFF"/>
                </a:solidFill>
              </a:rPr>
              <a:t>HEADLESS</a:t>
            </a:r>
          </a:p>
        </p:txBody>
      </p:sp>
      <p:sp>
        <p:nvSpPr>
          <p:cNvPr id="13" name="Oval 12"/>
          <p:cNvSpPr/>
          <p:nvPr/>
        </p:nvSpPr>
        <p:spPr>
          <a:xfrm>
            <a:off x="384048" y="4754880"/>
            <a:ext cx="1463040" cy="1463040"/>
          </a:xfrm>
          <a:prstGeom prst="ellipse">
            <a:avLst/>
          </a:prstGeom>
          <a:solidFill>
            <a:srgbClr val="0038B0"/>
          </a:solidFill>
          <a:ln w="25400">
            <a:solidFill>
              <a:srgbClr val="7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51206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Backend System</a:t>
            </a:r>
          </a:p>
        </p:txBody>
      </p:sp>
      <p:sp>
        <p:nvSpPr>
          <p:cNvPr id="15" name="Oval 14"/>
          <p:cNvSpPr/>
          <p:nvPr/>
        </p:nvSpPr>
        <p:spPr>
          <a:xfrm>
            <a:off x="2075688" y="4754880"/>
            <a:ext cx="1463040" cy="1463040"/>
          </a:xfrm>
          <a:prstGeom prst="ellipse">
            <a:avLst/>
          </a:prstGeom>
          <a:solidFill>
            <a:srgbClr val="0038B0"/>
          </a:solidFill>
          <a:ln w="25400">
            <a:solidFill>
              <a:srgbClr val="7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75688" y="51206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Open API</a:t>
            </a:r>
          </a:p>
        </p:txBody>
      </p:sp>
      <p:sp>
        <p:nvSpPr>
          <p:cNvPr id="17" name="Oval 16"/>
          <p:cNvSpPr/>
          <p:nvPr/>
        </p:nvSpPr>
        <p:spPr>
          <a:xfrm>
            <a:off x="3767328" y="4754880"/>
            <a:ext cx="1463040" cy="1463040"/>
          </a:xfrm>
          <a:prstGeom prst="ellipse">
            <a:avLst/>
          </a:prstGeom>
          <a:solidFill>
            <a:srgbClr val="0038B0"/>
          </a:solidFill>
          <a:ln w="25400">
            <a:solidFill>
              <a:srgbClr val="7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67328" y="51206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Agentic Layer</a:t>
            </a:r>
          </a:p>
        </p:txBody>
      </p:sp>
      <p:sp>
        <p:nvSpPr>
          <p:cNvPr id="19" name="Oval 18"/>
          <p:cNvSpPr/>
          <p:nvPr/>
        </p:nvSpPr>
        <p:spPr>
          <a:xfrm>
            <a:off x="5458968" y="4754880"/>
            <a:ext cx="1463040" cy="1463040"/>
          </a:xfrm>
          <a:prstGeom prst="ellipse">
            <a:avLst/>
          </a:prstGeom>
          <a:solidFill>
            <a:srgbClr val="0038B0"/>
          </a:solidFill>
          <a:ln w="25400">
            <a:solidFill>
              <a:srgbClr val="7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58968" y="51206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Security &amp; Profiles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6355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BBFF"/>
                </a:solidFill>
              </a:rPr>
              <a:t>All preserved. All enforced. All yours.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201168"/>
            <a:ext cx="713232" cy="475488"/>
          </a:xfrm>
          <a:prstGeom prst="ellipse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28248" y="237744"/>
            <a:ext cx="694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salesforce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176D3"/>
                </a:solidFill>
              </a:rPr>
              <a:t>WHAT IS HEADLESS 360?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32D60"/>
                </a:solidFill>
              </a:rPr>
              <a:t>Salesforce opening the platform.
Everything you love — everywhere you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011680"/>
            <a:ext cx="27889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2084832"/>
            <a:ext cx="64008" cy="4242816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7627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176D3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3347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2D60"/>
                </a:solidFill>
              </a:rPr>
              <a:t>Backend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35808"/>
            <a:ext cx="2441448" cy="22860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27248"/>
            <a:ext cx="2496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32D60"/>
                </a:solidFill>
              </a:rPr>
              <a:t>→  World-class CRM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11296"/>
            <a:ext cx="2496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32D60"/>
                </a:solidFill>
              </a:rPr>
              <a:t>→  Decades of enterprise reliability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95344"/>
            <a:ext cx="2496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32D60"/>
                </a:solidFill>
              </a:rPr>
              <a:t>→  Your data, always your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28416" y="2011680"/>
            <a:ext cx="27889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28416" y="2084832"/>
            <a:ext cx="64008" cy="4242816"/>
          </a:xfrm>
          <a:prstGeom prst="rect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3008" y="217627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96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263347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2D60"/>
                </a:solidFill>
              </a:rPr>
              <a:t>Open API Platform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93008" y="3035808"/>
            <a:ext cx="2441448" cy="22860"/>
          </a:xfrm>
          <a:prstGeom prst="rect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93008" y="3127248"/>
            <a:ext cx="2496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32D60"/>
                </a:solidFill>
              </a:rPr>
              <a:t>→  MCP Server exposed for the first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3511296"/>
            <a:ext cx="2496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32D60"/>
                </a:solidFill>
              </a:rPr>
              <a:t>→  Connect any tool, any 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3895344"/>
            <a:ext cx="2496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32D60"/>
                </a:solidFill>
              </a:rPr>
              <a:t>→  Standards-based, developer-first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2784" y="2011680"/>
            <a:ext cx="27889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72784" y="2084832"/>
            <a:ext cx="64008" cy="4242816"/>
          </a:xfrm>
          <a:prstGeom prst="rect">
            <a:avLst/>
          </a:prstGeom>
          <a:solidFill>
            <a:srgbClr val="06A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217627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A59A"/>
                </a:solidFill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263347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2D60"/>
                </a:solidFill>
              </a:rPr>
              <a:t>Agentic Layer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37376" y="3035808"/>
            <a:ext cx="2441448" cy="22860"/>
          </a:xfrm>
          <a:prstGeom prst="rect">
            <a:avLst/>
          </a:prstGeom>
          <a:solidFill>
            <a:srgbClr val="06A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3127248"/>
            <a:ext cx="2496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32D60"/>
                </a:solidFill>
              </a:rPr>
              <a:t>→  Agentforce remains fully central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3511296"/>
            <a:ext cx="2496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32D60"/>
                </a:solidFill>
              </a:rPr>
              <a:t>→  Build once, deploy anywhere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3895344"/>
            <a:ext cx="2496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32D60"/>
                </a:solidFill>
              </a:rPr>
              <a:t>→  Deterministic actions via scripts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17152" y="2011680"/>
            <a:ext cx="27889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17152" y="2084832"/>
            <a:ext cx="64008" cy="4242816"/>
          </a:xfrm>
          <a:prstGeom prst="rect">
            <a:avLst/>
          </a:prstGeom>
          <a:solidFill>
            <a:srgbClr val="742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81744" y="217627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42EB8"/>
                </a:solidFill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81744" y="263347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2D60"/>
                </a:solidFill>
              </a:rPr>
              <a:t>Security &amp; Profiles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81744" y="3035808"/>
            <a:ext cx="2441448" cy="22860"/>
          </a:xfrm>
          <a:prstGeom prst="rect">
            <a:avLst/>
          </a:prstGeom>
          <a:solidFill>
            <a:srgbClr val="742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81744" y="3127248"/>
            <a:ext cx="2496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32D60"/>
                </a:solidFill>
              </a:rPr>
              <a:t>→  User permissions enforced natively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81744" y="3511296"/>
            <a:ext cx="2496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32D60"/>
                </a:solidFill>
              </a:rPr>
              <a:t>→  Profiles respected across all surfaces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1744" y="3895344"/>
            <a:ext cx="2496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32D60"/>
                </a:solidFill>
              </a:rPr>
              <a:t>→  Audit trails on every 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6688"/>
                </a:solidFill>
              </a:rPr>
              <a:t>This isn't new — we've been building toward this for years.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201168"/>
            <a:ext cx="713232" cy="475488"/>
          </a:xfrm>
          <a:prstGeom prst="ellipse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28248" y="237744"/>
            <a:ext cx="694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salesforce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176D3"/>
                </a:solidFill>
              </a:rPr>
              <a:t>ADDRESSING THE FEAR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32D60"/>
                </a:solidFill>
              </a:rPr>
              <a:t>We're not killing the UI. </a:t>
            </a:r>
            <a:r>
              <a:rPr sz="3200" b="1">
                <a:solidFill>
                  <a:srgbClr val="0176D3"/>
                </a:solidFill>
              </a:rPr>
              <a:t>We're expanding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55680" cy="804672"/>
          </a:xfrm>
          <a:prstGeom prst="roundRect">
            <a:avLst/>
          </a:prstGeom>
          <a:solidFill>
            <a:srgbClr val="EBF5FF"/>
          </a:solidFill>
          <a:ln w="25400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91440" cy="804672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3560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32D60"/>
                </a:solidFill>
              </a:rPr>
              <a:t>"You may not even log into Salesforce anymore."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6699"/>
                </a:solidFill>
              </a:rPr>
              <a:t>— Parker Harris  |  There is truth here — and important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31720"/>
            <a:ext cx="5413248" cy="45720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C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2222"/>
                </a:solidFill>
              </a:rPr>
              <a:t>❌  What people fear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331720"/>
            <a:ext cx="5120640" cy="457200"/>
          </a:xfrm>
          <a:prstGeom prst="roundRect">
            <a:avLst/>
          </a:prstGeom>
          <a:solidFill>
            <a:srgbClr val="E8FFF4"/>
          </a:solidFill>
          <a:ln w="12700">
            <a:solidFill>
              <a:srgbClr val="06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2377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644"/>
                </a:solidFill>
              </a:rPr>
              <a:t>✅  The reality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07792"/>
            <a:ext cx="541324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175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2D60"/>
                </a:solidFill>
              </a:rPr>
              <a:t>Salesforce is forcing everyone off the 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2907792"/>
            <a:ext cx="51206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0568" y="30175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2D60"/>
                </a:solidFill>
              </a:rPr>
              <a:t>Headless 360 is an option, not a mandate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867912"/>
            <a:ext cx="541324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9776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2D60"/>
                </a:solidFill>
              </a:rPr>
              <a:t>The classic Lightning experience is being deprecated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867912"/>
            <a:ext cx="51206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0568" y="39776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2D60"/>
                </a:solidFill>
              </a:rPr>
              <a:t>Active roadmap: flows, records, dashboards all continue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828032"/>
            <a:ext cx="541324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93776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2D60"/>
                </a:solidFill>
              </a:rPr>
              <a:t>Teams will lose familiar workflows and productivity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4828032"/>
            <a:ext cx="51206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0568" y="49377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2D60"/>
                </a:solidFill>
              </a:rPr>
              <a:t>Both UI and AI interfaces are built and fully supported</a:t>
            </a:r>
          </a:p>
        </p:txBody>
      </p:sp>
      <p:sp>
        <p:nvSpPr>
          <p:cNvPr id="26" name="Oval 25"/>
          <p:cNvSpPr/>
          <p:nvPr/>
        </p:nvSpPr>
        <p:spPr>
          <a:xfrm>
            <a:off x="5669280" y="3337560"/>
            <a:ext cx="914400" cy="914400"/>
          </a:xfrm>
          <a:prstGeom prst="ellipse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0" y="354787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BOTH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6688"/>
                </a:solidFill>
              </a:rPr>
              <a:t>Headless 360 is a new door — it doesn't close the old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201168"/>
            <a:ext cx="713232" cy="475488"/>
          </a:xfrm>
          <a:prstGeom prst="ellipse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28248" y="237744"/>
            <a:ext cx="694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salesforce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176D3"/>
                </a:solidFill>
              </a:rPr>
              <a:t>IF YOU HAVE SLACK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32D60"/>
                </a:solidFill>
              </a:rPr>
              <a:t>Slackbot: </a:t>
            </a:r>
            <a:r>
              <a:rPr sz="3200" b="1">
                <a:solidFill>
                  <a:srgbClr val="0176D3"/>
                </a:solidFill>
              </a:rPr>
              <a:t>The Ultimate Agent Orchestrator.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353312"/>
            <a:ext cx="11430000" cy="9875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77AA"/>
                </a:solidFill>
              </a:rPr>
              <a:t>System of engagement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— — — — — — — — —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417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32D60"/>
                </a:solidFill>
              </a:rPr>
              <a:t>💬  Slackbot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81051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6688"/>
                </a:solidFill>
              </a:rPr>
              <a:t>Orchestrator  |  Canvas  |  Enterprise Search  |  Messaging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1444752"/>
            <a:ext cx="1920240" cy="749808"/>
          </a:xfrm>
          <a:prstGeom prst="roundRect">
            <a:avLst/>
          </a:prstGeom>
          <a:solidFill>
            <a:srgbClr val="D6EEFF"/>
          </a:solidFill>
          <a:ln w="1270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60" y="1463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6688"/>
                </a:solidFill>
              </a:rPr>
              <a:t>Any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88AA"/>
                </a:solidFill>
              </a:rPr>
              <a:t>Teams  |  Web  |  Mobile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468880"/>
            <a:ext cx="11430000" cy="9875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A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871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8880"/>
                </a:solidFill>
              </a:rPr>
              <a:t>System of agency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157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— — — — — — — — — 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5328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32D60"/>
                </a:solidFill>
              </a:rPr>
              <a:t>🤖  Agentforce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926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6688"/>
                </a:solidFill>
              </a:rPr>
              <a:t>Agentforce Actions  |  MCP Server  |  A2A Orchestration  |  Observability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2560320"/>
            <a:ext cx="1920240" cy="749808"/>
          </a:xfrm>
          <a:prstGeom prst="roundRect">
            <a:avLst/>
          </a:prstGeom>
          <a:solidFill>
            <a:srgbClr val="D6EEFF"/>
          </a:solidFill>
          <a:ln w="1270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25786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6688"/>
                </a:solidFill>
              </a:rPr>
              <a:t>Any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8529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88AA"/>
                </a:solidFill>
              </a:rPr>
              <a:t>Jira  |  Confluence  |  MCP Apps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3584448"/>
            <a:ext cx="11430000" cy="9875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60273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66CC"/>
                </a:solidFill>
              </a:rPr>
              <a:t>System of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8313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— — — — — — — — — 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64845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32D60"/>
                </a:solidFill>
              </a:rPr>
              <a:t>☁️  Salesforce Headless 360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0416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6688"/>
                </a:solidFill>
              </a:rPr>
              <a:t>Sales  |  Service  |  Marketing  |  Commerce  |  Platform  |  All Clouds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2640" y="3675887"/>
            <a:ext cx="1920240" cy="749808"/>
          </a:xfrm>
          <a:prstGeom prst="roundRect">
            <a:avLst/>
          </a:prstGeom>
          <a:solidFill>
            <a:srgbClr val="D6EEFF"/>
          </a:solidFill>
          <a:ln w="1270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38360" y="36941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6688"/>
                </a:solidFill>
              </a:rPr>
              <a:t>Any interface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39684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88AA"/>
                </a:solidFill>
              </a:rPr>
              <a:t>UI  |  API  |  Voice  |  Chat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4700016"/>
            <a:ext cx="11430000" cy="804672"/>
          </a:xfrm>
          <a:prstGeom prst="round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7365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BBFF"/>
                </a:solidFill>
              </a:rPr>
              <a:t>System of 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8006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🗄  Data 360  —  CDP  |  MuleSoft  |  Tableau  |  Real-time  |  Zero copy  |  Governed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566928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5588"/>
                </a:solidFill>
              </a:rPr>
              <a:t>Bottom line: Natural language in. Cross-platform action out. Real permissions. Real audit trail.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" y="6144768"/>
            <a:ext cx="26517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6" y="619048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76D3"/>
                </a:solidFill>
              </a:rPr>
              <a:t>✓  Real permissions enforced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18688" y="6144768"/>
            <a:ext cx="26517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28416" y="619048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76D3"/>
                </a:solidFill>
              </a:rPr>
              <a:t>✓  Full audit trail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53328" y="6144768"/>
            <a:ext cx="26517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63056" y="619048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76D3"/>
                </a:solidFill>
              </a:rPr>
              <a:t>✓  Works in existing tools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87968" y="6144768"/>
            <a:ext cx="26517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97696" y="619048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76D3"/>
                </a:solidFill>
              </a:rPr>
              <a:t>✓  MCP-native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201168"/>
            <a:ext cx="713232" cy="475488"/>
          </a:xfrm>
          <a:prstGeom prst="ellipse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28248" y="237744"/>
            <a:ext cx="694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salesforce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176D3"/>
                </a:solidFill>
              </a:rPr>
              <a:t>FOR DEVELOPERS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32D60"/>
                </a:solidFill>
              </a:rPr>
              <a:t>Build with AI. Deploy to the platform. </a:t>
            </a:r>
            <a:r>
              <a:rPr sz="2800" b="1">
                <a:solidFill>
                  <a:srgbClr val="0176D3"/>
                </a:solidFill>
              </a:rPr>
              <a:t>Expose to users naturally.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389888"/>
            <a:ext cx="210312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6968" y="1188720"/>
            <a:ext cx="1097280" cy="1097280"/>
          </a:xfrm>
          <a:prstGeom prst="ellipse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18872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2377440"/>
            <a:ext cx="1901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32D60"/>
                </a:solidFill>
              </a:rPr>
              <a:t>Claude
+ Cursor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1755648" cy="22860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3218688"/>
            <a:ext cx="19019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5577"/>
                </a:solidFill>
              </a:rPr>
              <a:t>AI-assisted build:
Apex, Flows, metadata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256032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8AACC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88336" y="1389888"/>
            <a:ext cx="210312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91256" y="1188720"/>
            <a:ext cx="1097280" cy="1097280"/>
          </a:xfrm>
          <a:prstGeom prst="ellipse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91256" y="118872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2377440"/>
            <a:ext cx="1901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32D60"/>
                </a:solidFill>
              </a:rPr>
              <a:t>Agentforce
Actions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52928" y="3154680"/>
            <a:ext cx="1755648" cy="22860"/>
          </a:xfrm>
          <a:prstGeom prst="rect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98064" y="3218688"/>
            <a:ext cx="19019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5577"/>
                </a:solidFill>
              </a:rPr>
              <a:t>Deterministic actions
scripted &amp; tested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91456" y="256032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8AACC"/>
                </a:solidFill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92624" y="1389888"/>
            <a:ext cx="210312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A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95544" y="1188720"/>
            <a:ext cx="1097280" cy="1097280"/>
          </a:xfrm>
          <a:prstGeom prst="ellipse">
            <a:avLst/>
          </a:prstGeom>
          <a:solidFill>
            <a:srgbClr val="06A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95544" y="118872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2352" y="2377440"/>
            <a:ext cx="1901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32D60"/>
                </a:solidFill>
              </a:rPr>
              <a:t>MCP
Server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57216" y="3154680"/>
            <a:ext cx="1755648" cy="22860"/>
          </a:xfrm>
          <a:prstGeom prst="rect">
            <a:avLst/>
          </a:prstGeom>
          <a:solidFill>
            <a:srgbClr val="06A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02352" y="3218688"/>
            <a:ext cx="19019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5577"/>
                </a:solidFill>
              </a:rPr>
              <a:t>Exposed via
open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256032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8AACC"/>
                </a:solidFill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6912" y="1389888"/>
            <a:ext cx="210312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42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99832" y="1188720"/>
            <a:ext cx="1097280" cy="1097280"/>
          </a:xfrm>
          <a:prstGeom prst="ellipse">
            <a:avLst/>
          </a:prstGeom>
          <a:solidFill>
            <a:srgbClr val="742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99832" y="118872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377440"/>
            <a:ext cx="1901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32D60"/>
                </a:solidFill>
              </a:rPr>
              <a:t>Slackbot /
Any Interface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61504" y="3154680"/>
            <a:ext cx="1755648" cy="22860"/>
          </a:xfrm>
          <a:prstGeom prst="rect">
            <a:avLst/>
          </a:prstGeom>
          <a:solidFill>
            <a:srgbClr val="742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3218688"/>
            <a:ext cx="19019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5577"/>
                </a:solidFill>
              </a:rPr>
              <a:t>Called in natural
language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0032" y="256032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8AACC"/>
                </a:solidFill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0" y="1389888"/>
            <a:ext cx="210312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04120" y="1188720"/>
            <a:ext cx="1097280" cy="1097280"/>
          </a:xfrm>
          <a:prstGeom prst="ellipse">
            <a:avLst/>
          </a:prstGeom>
          <a:solidFill>
            <a:srgbClr val="2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04120" y="118872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0928" y="2377440"/>
            <a:ext cx="1901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32D60"/>
                </a:solidFill>
              </a:rPr>
              <a:t>End
User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65792" y="3154680"/>
            <a:ext cx="1755648" cy="22860"/>
          </a:xfrm>
          <a:prstGeom prst="rect">
            <a:avLst/>
          </a:prstGeom>
          <a:solidFill>
            <a:srgbClr val="2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10928" y="3218688"/>
            <a:ext cx="19019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5577"/>
                </a:solidFill>
              </a:rPr>
              <a:t>No training needed.
Just ask.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4048" y="4572000"/>
            <a:ext cx="3749039" cy="178308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4048" y="4645152"/>
            <a:ext cx="64008" cy="1645920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5216" y="466344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2D60"/>
                </a:solidFill>
              </a:rPr>
              <a:t>Pro-developer first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" y="5074920"/>
            <a:ext cx="3429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32D60"/>
                </a:solidFill>
              </a:rPr>
              <a:t>Salesforce has always championed developers — this is that at full scale.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15968" y="4572000"/>
            <a:ext cx="3749039" cy="178308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15968" y="4645152"/>
            <a:ext cx="64008" cy="1645920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17136" y="466344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2D60"/>
                </a:solidFill>
              </a:rPr>
              <a:t>Agentforce still central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17136" y="5074920"/>
            <a:ext cx="3429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32D60"/>
                </a:solidFill>
              </a:rPr>
              <a:t>We're giving developers superpowers to build on top of Agentforce, not replace it.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47888" y="4572000"/>
            <a:ext cx="3749039" cy="178308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47888" y="4645152"/>
            <a:ext cx="64008" cy="1645920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49056" y="466344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2D60"/>
                </a:solidFill>
              </a:rPr>
              <a:t>Claude / Cursor integrated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49056" y="5074920"/>
            <a:ext cx="3429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32D60"/>
                </a:solidFill>
              </a:rPr>
              <a:t>Direct Salesforce connection — understand metadata, write Apex, build flows with AI.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7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0" y="3200400"/>
            <a:ext cx="9144000" cy="6400800"/>
          </a:xfrm>
          <a:prstGeom prst="ellipse">
            <a:avLst/>
          </a:prstGeom>
          <a:solidFill>
            <a:srgbClr val="0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09960" y="201168"/>
            <a:ext cx="713232" cy="475488"/>
          </a:xfrm>
          <a:prstGeom prst="ellipse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28248" y="237744"/>
            <a:ext cx="694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salesforce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EC8FF"/>
                </a:solidFill>
              </a:rPr>
              <a:t>THE BIG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Salesforce plays both sides of the coin.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E5FF"/>
                </a:solidFill>
              </a:rPr>
              <a:t>We meet every customer exactly where they 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2011680"/>
            <a:ext cx="5349240" cy="3657600"/>
          </a:xfrm>
          <a:prstGeom prst="roundRect">
            <a:avLst/>
          </a:prstGeom>
          <a:solidFill>
            <a:srgbClr val="0038AA"/>
          </a:solidFill>
          <a:ln w="25400">
            <a:solidFill>
              <a:srgbClr val="7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2011680"/>
            <a:ext cx="91440" cy="3657600"/>
          </a:xfrm>
          <a:prstGeom prst="rect">
            <a:avLst/>
          </a:prstGeom>
          <a:solidFill>
            <a:srgbClr val="7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EC8FF"/>
                </a:solidFill>
              </a:rPr>
              <a:t>Headless 360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24912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AI-native  •  Conversational
Cross-platform  •  MCP-open
ChatGPT for your org —
with Salesforce data, governance &amp; trust.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8736" y="35204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EC8FF"/>
                </a:solidFill>
              </a:rPr>
              <a:t>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011680"/>
            <a:ext cx="5349240" cy="3657600"/>
          </a:xfrm>
          <a:prstGeom prst="roundRect">
            <a:avLst/>
          </a:prstGeom>
          <a:solidFill>
            <a:srgbClr val="0038AA"/>
          </a:solidFill>
          <a:ln w="25400">
            <a:solidFill>
              <a:srgbClr val="7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2011680"/>
            <a:ext cx="91440" cy="3657600"/>
          </a:xfrm>
          <a:prstGeom prst="rect">
            <a:avLst/>
          </a:prstGeom>
          <a:solidFill>
            <a:srgbClr val="7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2" y="2148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EC8FF"/>
                </a:solidFill>
              </a:rPr>
              <a:t>Classic Salesforce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2724912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Lightning  •  Screen Flows
Record Updates  •  Dashboards
The experience your team
already knows and loves.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5833872"/>
            <a:ext cx="2834640" cy="502920"/>
          </a:xfrm>
          <a:prstGeom prst="roundRect">
            <a:avLst/>
          </a:prstGeom>
          <a:solidFill>
            <a:srgbClr val="002A80"/>
          </a:solidFill>
          <a:ln w="12700">
            <a:solidFill>
              <a:srgbClr val="7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58795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EC8FF"/>
                </a:solidFill>
              </a:rPr>
              <a:t>✔  User License Required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46704" y="5833872"/>
            <a:ext cx="2834640" cy="502920"/>
          </a:xfrm>
          <a:prstGeom prst="roundRect">
            <a:avLst/>
          </a:prstGeom>
          <a:solidFill>
            <a:srgbClr val="002A80"/>
          </a:solidFill>
          <a:ln w="12700">
            <a:solidFill>
              <a:srgbClr val="7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83864" y="58795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EC8FF"/>
                </a:solidFill>
              </a:rPr>
              <a:t>✔  Audit Trails Preserved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5833872"/>
            <a:ext cx="2834640" cy="502920"/>
          </a:xfrm>
          <a:prstGeom prst="roundRect">
            <a:avLst/>
          </a:prstGeom>
          <a:solidFill>
            <a:srgbClr val="002A80"/>
          </a:solidFill>
          <a:ln w="12700">
            <a:solidFill>
              <a:srgbClr val="7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8795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EC8FF"/>
                </a:solidFill>
              </a:rPr>
              <a:t>✔  Activity History Per User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72016" y="5833872"/>
            <a:ext cx="2834640" cy="502920"/>
          </a:xfrm>
          <a:prstGeom prst="roundRect">
            <a:avLst/>
          </a:prstGeom>
          <a:solidFill>
            <a:srgbClr val="002A80"/>
          </a:solidFill>
          <a:ln w="12700">
            <a:solidFill>
              <a:srgbClr val="7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09176" y="58795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EC8FF"/>
                </a:solidFill>
              </a:rPr>
              <a:t>✔  Permissions Respected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BBFF"/>
                </a:solidFill>
              </a:rPr>
              <a:t>Embrace AI. Keep your data. Meet every customer where they 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